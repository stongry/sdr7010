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64653"/>
                </a:solidFill>
              </a:rPr>
              <a:t>LDSDR 7010 OFDM+LDPC 收发机</a:t>
            </a:r>
          </a:p>
          <a:p>
            <a:r>
              <a:rPr sz="1400">
                <a:solidFill>
                  <a:srgbClr val="808080"/>
                </a:solidFill>
              </a:rPr>
              <a:t>Phase-1 xsim PASS 0/512 BER  ·  Phase-2 板上 OFDM+LDPC 跑通  ·  xc7z010clg400-2 + AD9363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1051560"/>
            <a:ext cx="11430000" cy="0"/>
          </a:xfrm>
          <a:prstGeom prst="line">
            <a:avLst/>
          </a:prstGeom>
          <a:ln w="254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365760" y="1280160"/>
            <a:ext cx="1828800" cy="50292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TEST_BITS
512-bit random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1828800" cy="50292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LDPC encoder
IRA-QC (1024,512)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468880"/>
            <a:ext cx="1828800" cy="50292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QPSK + tx_subcarrier_map
(±5793, ±5793) + 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063239"/>
            <a:ext cx="1828800" cy="50292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IFFT 64-pt
(behavioral DFT in sim)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657600"/>
            <a:ext cx="1828800" cy="50292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cp_insert
+16 cycle 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51960"/>
            <a:ext cx="1828800" cy="50292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tx_iq_i / tx_iq_q
100 MHz, 16-bit signed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05840" y="1783080"/>
            <a:ext cx="548640" cy="9144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005840" y="2377440"/>
            <a:ext cx="548640" cy="9144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1005840" y="2971800"/>
            <a:ext cx="548640" cy="9144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005840" y="3566160"/>
            <a:ext cx="548640" cy="9144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1005840" y="4160520"/>
            <a:ext cx="548640" cy="9144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2286000" y="4389120"/>
            <a:ext cx="1554480" cy="228600"/>
          </a:xfrm>
          <a:prstGeom prst="right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46634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/>
              <a:t>1-cycle
loopback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4251960"/>
            <a:ext cx="1828800" cy="50292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rx_iq_i / rx_iq_q
直接 loopback ≡ tx_iq[t-10ns]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657600"/>
            <a:ext cx="1828800" cy="50292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cp_remove
80→64 cycle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3063239"/>
            <a:ext cx="1828800" cy="50292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FFT 64-pt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2468880"/>
            <a:ext cx="1828800" cy="50292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channel_est
STREAM_MODE pass-through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874519"/>
            <a:ext cx="1828800" cy="50292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qpsk_demod
8-bit LLR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1280160"/>
            <a:ext cx="1828800" cy="50292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llr_buffer + LDPC decoder
min-sum × 10 iter</a:t>
            </a:r>
          </a:p>
        </p:txBody>
      </p:sp>
      <p:sp>
        <p:nvSpPr>
          <p:cNvPr id="23" name="Up Arrow 22"/>
          <p:cNvSpPr/>
          <p:nvPr/>
        </p:nvSpPr>
        <p:spPr>
          <a:xfrm>
            <a:off x="4572000" y="1783080"/>
            <a:ext cx="548640" cy="91440"/>
          </a:xfrm>
          <a:prstGeom prst="up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p Arrow 23"/>
          <p:cNvSpPr/>
          <p:nvPr/>
        </p:nvSpPr>
        <p:spPr>
          <a:xfrm>
            <a:off x="4572000" y="2377440"/>
            <a:ext cx="548640" cy="91440"/>
          </a:xfrm>
          <a:prstGeom prst="up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p Arrow 24"/>
          <p:cNvSpPr/>
          <p:nvPr/>
        </p:nvSpPr>
        <p:spPr>
          <a:xfrm>
            <a:off x="4572000" y="2971800"/>
            <a:ext cx="548640" cy="91440"/>
          </a:xfrm>
          <a:prstGeom prst="up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4572000" y="3566160"/>
            <a:ext cx="548640" cy="91440"/>
          </a:xfrm>
          <a:prstGeom prst="up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Up Arrow 26"/>
          <p:cNvSpPr/>
          <p:nvPr/>
        </p:nvSpPr>
        <p:spPr>
          <a:xfrm>
            <a:off x="4572000" y="4160520"/>
            <a:ext cx="548640" cy="91440"/>
          </a:xfrm>
          <a:prstGeom prst="up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931920" y="822959"/>
            <a:ext cx="1828800" cy="41148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1C1C1C"/>
                </a:solidFill>
              </a:rPr>
              <a:t>rx_decoded == TEST_BITS  ✅</a:t>
            </a:r>
          </a:p>
        </p:txBody>
      </p:sp>
      <p:sp>
        <p:nvSpPr>
          <p:cNvPr id="29" name="Up Arrow 28"/>
          <p:cNvSpPr/>
          <p:nvPr/>
        </p:nvSpPr>
        <p:spPr>
          <a:xfrm>
            <a:off x="4572000" y="1188719"/>
            <a:ext cx="548640" cy="91440"/>
          </a:xfrm>
          <a:prstGeom prst="up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1280160"/>
            <a:ext cx="585216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800" b="1">
                <a:solidFill>
                  <a:srgbClr val="264653"/>
                </a:solidFill>
              </a:rPr>
              <a:t>关键参数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1783080"/>
            <a:ext cx="15544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芯片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1783080"/>
            <a:ext cx="42519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>
                <a:solidFill>
                  <a:srgbClr val="1C1C1C"/>
                </a:solidFill>
              </a:rPr>
              <a:t>Xilinx xc7z010clg400-2 (Zynq-7010)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167128"/>
            <a:ext cx="15544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RF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2167128"/>
            <a:ext cx="42519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>
                <a:solidFill>
                  <a:srgbClr val="1C1C1C"/>
                </a:solidFill>
              </a:rPr>
              <a:t>AD9363-BBCZ (LVDS DDR DPMC mode, RX gain 30 dB)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2551176"/>
            <a:ext cx="15544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时钟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2551176"/>
            <a:ext cx="42519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>
                <a:solidFill>
                  <a:srgbClr val="1C1C1C"/>
                </a:solidFill>
              </a:rPr>
              <a:t>PL clock = 100 MHz, sample rate = 2.5 MHz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2935224"/>
            <a:ext cx="15544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OFDM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6679" y="2935224"/>
            <a:ext cx="42519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>
                <a:solidFill>
                  <a:srgbClr val="1C1C1C"/>
                </a:solidFill>
              </a:rPr>
              <a:t>N_FFT=64, N_CP=16, 48 data + 4 pilot + 12 NULL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319272"/>
            <a:ext cx="15544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LDPC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3319272"/>
            <a:ext cx="42519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>
                <a:solidFill>
                  <a:srgbClr val="1C1C1C"/>
                </a:solidFill>
              </a:rPr>
              <a:t>IRA-QC (1024, 512), Z=64, min-sum × 10 iter, 8-bit LLR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703320"/>
            <a:ext cx="15544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调制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26679" y="3703320"/>
            <a:ext cx="42519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>
                <a:solidFill>
                  <a:srgbClr val="1C1C1C"/>
                </a:solidFill>
              </a:rPr>
              <a:t>QPSK power-normalized (±1/√2 ± j/√2) × 2^13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4087368"/>
            <a:ext cx="15544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Frame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26679" y="4087368"/>
            <a:ext cx="425196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>
                <a:solidFill>
                  <a:srgbClr val="1C1C1C"/>
                </a:solidFill>
              </a:rPr>
              <a:t>12 OFDM symbols × 80 cycles = 960 cycles = 9.6 μs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4617720"/>
            <a:ext cx="2880360" cy="169164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Phase-1  ·  xsim 行为级仿真
✅ xfft_stub 行为级 64-pt DFT
✅ 9 项严格设计验证全部通过
✅ 0 / 512 BER  bit-exact
✅ CP=tail 12/12 完美
✅ NULL bin 隔离 0.02%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98280" y="4617720"/>
            <a:ext cx="2880360" cy="1691640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>
                <a:solidFill>
                  <a:srgbClr val="1C1C1C"/>
                </a:solidFill>
              </a:rPr>
              <a:t>Phase-2  ·  板上集成
✅ Vivado xfft_v9.1 IP 综合通过
✅ Linux fpga_manager 在线 reload
✅ rx_done = 1, BP 完整迭代
⚠ pass_flag = 0 (差 6 bit IP 数值精度)
Resources: 12995 LUT (73.84%), 2 BRAM, 12 DSP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1179576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000">
                <a:solidFill>
                  <a:srgbClr val="1C1C1C"/>
                </a:solidFill>
              </a:rPr>
              <a:t>github.com/stongry/sdr7010   ·   2026-05-08   ·   build #9 FINAL  ·  xfft IP unscaled+natural+sat16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64653"/>
                </a:solidFill>
              </a:rPr>
              <a:t>Phase-1  ·  xsim 严格数字验证</a:t>
            </a:r>
          </a:p>
          <a:p>
            <a:r>
              <a:rPr sz="1400">
                <a:solidFill>
                  <a:srgbClr val="808080"/>
                </a:solidFill>
              </a:rPr>
              <a:t>从 VCD 抽取每一级中间信号 → 9 项数学契约校验全部通过 → 0/512 BER 是必然结果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1051560"/>
            <a:ext cx="11430000" cy="0"/>
          </a:xfrm>
          <a:prstGeom prst="line">
            <a:avLst/>
          </a:prstGeom>
          <a:ln w="254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280160"/>
            <a:ext cx="59436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800" b="1">
                <a:solidFill>
                  <a:srgbClr val="264653"/>
                </a:solidFill>
              </a:rPr>
              <a:t>9 项严格验证（VCD 原始数据 → bit-exact 检查）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83080"/>
            <a:ext cx="365760" cy="38404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377440" cy="384048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RTL 参数与 testbench 一致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83080"/>
            <a:ext cx="457200" cy="38404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1C1C1C"/>
                </a:solidFill>
              </a:rPr>
              <a:t>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783080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N_FFT=64, N_CP=16, K=512/N_CW=1024, N_SYM=12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03704"/>
            <a:ext cx="365760" cy="38404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2377440" cy="384048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tx_info_bits = 512 random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203704"/>
            <a:ext cx="457200" cy="38404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1C1C1C"/>
                </a:solidFill>
              </a:rPr>
              <a:t>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203704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popcount=254/512 (49.6%, 统计正常)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24328"/>
            <a:ext cx="365760" cy="38404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24328"/>
            <a:ext cx="2377440" cy="384048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LDPC encoder systematic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624328"/>
            <a:ext cx="457200" cy="38404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1C1C1C"/>
                </a:solidFill>
              </a:rPr>
              <a:t>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624328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codeword[511:0] ≡ tx_info_bits, parity popcount=244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044952"/>
            <a:ext cx="365760" cy="38404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44952"/>
            <a:ext cx="2377440" cy="384048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QPSK 星座 ±A±jA 严格 4 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044952"/>
            <a:ext cx="457200" cy="38404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1C1C1C"/>
                </a:solidFill>
              </a:rPr>
              <a:t>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3044952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(±5793, ±5793) + pilot (±5793, 0) + NULL (0,0)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465576"/>
            <a:ext cx="365760" cy="38404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65576"/>
            <a:ext cx="2377440" cy="384048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TX→RX loopback latency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465576"/>
            <a:ext cx="457200" cy="38404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1C1C1C"/>
                </a:solidFill>
              </a:rPr>
              <a:t>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3465576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first non-zero delay = 10.000 ns 严格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886200"/>
            <a:ext cx="365760" cy="38404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886200"/>
            <a:ext cx="2377440" cy="384048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CP = FFT tail bit-exact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886200"/>
            <a:ext cx="457200" cy="38404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1C1C1C"/>
                </a:solidFill>
              </a:rPr>
              <a:t>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3886200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12/12 个 symbol 全部满足 prefix[0:15] ≡ tail[64:79]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306824"/>
            <a:ext cx="365760" cy="38404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306824"/>
            <a:ext cx="2377440" cy="384048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RX FFT NULL bin ≈ 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4306824"/>
            <a:ext cx="457200" cy="38404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1C1C1C"/>
                </a:solidFill>
              </a:rPr>
              <a:t>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4306824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NULL max=1.4  vs  data min=5792  (隔离 0.02%)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727448"/>
            <a:ext cx="365760" cy="38404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727448"/>
            <a:ext cx="2377440" cy="384048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LDPC decoder == ref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4727448"/>
            <a:ext cx="457200" cy="38404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1C1C1C"/>
                </a:solidFill>
              </a:rPr>
              <a:t>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03320" y="4727448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XOR popcount = 0/512 bits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148072"/>
            <a:ext cx="365760" cy="38404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148072"/>
            <a:ext cx="2377440" cy="384048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 b="1">
                <a:solidFill>
                  <a:srgbClr val="1C1C1C"/>
                </a:solidFill>
              </a:rPr>
              <a:t>bit_errors counter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5148072"/>
            <a:ext cx="457200" cy="38404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200" b="1">
                <a:solidFill>
                  <a:srgbClr val="1C1C1C"/>
                </a:solidFill>
              </a:rPr>
              <a:t>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3320" y="5148072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final value = 0</a:t>
            </a:r>
          </a:p>
        </p:txBody>
      </p:sp>
      <p:pic>
        <p:nvPicPr>
          <p:cNvPr id="41" name="Picture 40" descr="iq_waveforms_0_13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486400" cy="298255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00800" y="4069080"/>
            <a:ext cx="5486400" cy="2743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900">
                <a:solidFill>
                  <a:srgbClr val="1C1C1C"/>
                </a:solidFill>
              </a:rPr>
              <a:t>TX/RX baseband IQ in 0–13 μs active window  (961 samples each, 12 symbols × 80 cycles)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434840"/>
            <a:ext cx="54864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800" b="1">
                <a:solidFill>
                  <a:srgbClr val="264653"/>
                </a:solidFill>
              </a:rPr>
              <a:t>关键发现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800600"/>
            <a:ext cx="5486400" cy="22860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100">
                <a:solidFill>
                  <a:srgbClr val="1C1C1C"/>
                </a:solidFill>
              </a:rPr>
              <a:t>• QPSK 5793 = 1/√2 × 2^13 power-normalized</a:t>
            </a:r>
          </a:p>
          <a:p>
            <a:r>
              <a:rPr sz="1100">
                <a:solidFill>
                  <a:srgbClr val="1C1C1C"/>
                </a:solidFill>
              </a:rPr>
              <a:t>• CP 严格等同：每符号 16 cycle 前缀 ≡ FFT 末尾 16 cycle</a:t>
            </a:r>
          </a:p>
          <a:p>
            <a:r>
              <a:rPr sz="1100">
                <a:solidFill>
                  <a:srgbClr val="1C1C1C"/>
                </a:solidFill>
              </a:rPr>
              <a:t>• NULL bin 隔离 5000:1，证明 IFFT/FFT bin 顺序对齐</a:t>
            </a:r>
          </a:p>
          <a:p>
            <a:r>
              <a:rPr sz="1100">
                <a:solidFill>
                  <a:srgbClr val="1C1C1C"/>
                </a:solidFill>
              </a:rPr>
              <a:t>• OFDM 时域 IQ 类高斯（中心极限定理） PAPR ≈ 3.5</a:t>
            </a:r>
          </a:p>
          <a:p>
            <a:r>
              <a:rPr sz="1100">
                <a:solidFill>
                  <a:srgbClr val="1C1C1C"/>
                </a:solidFill>
              </a:rPr>
              <a:t>• LDPC encoder 严格 systematic： 前 512 bit ≡ info bits</a:t>
            </a:r>
          </a:p>
          <a:p>
            <a:r>
              <a:rPr sz="1100">
                <a:solidFill>
                  <a:srgbClr val="1C1C1C"/>
                </a:solidFill>
              </a:rPr>
              <a:t>• 0/512 BER 不是巧合，每级中间数据流都数学正确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943600"/>
            <a:ext cx="5943600" cy="77724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>
                <a:solidFill>
                  <a:srgbClr val="1C1C1C"/>
                </a:solidFill>
              </a:rPr>
              <a:t>0 μs ─ rst_n release  →  2.135 μs ─ 12 OFDM symbol burst (9.6 μs)
12 μs ─ all valid LLR collected  →  ldpc_dec BP × 10 iter (250K cycles)
2551 μs ─ rx_valid_out 上升沿 → testbench compare → PASS 0/512   →   $finish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64653"/>
                </a:solidFill>
              </a:rPr>
              <a:t>Phase-2  ·  板上集成 + 工程总结</a:t>
            </a:r>
          </a:p>
          <a:p>
            <a:r>
              <a:rPr sz="1400">
                <a:solidFill>
                  <a:srgbClr val="808080"/>
                </a:solidFill>
              </a:rPr>
              <a:t>9 build 迭代  ·  Vivado xfft_v9.1 IP  ·  Linux fpga_manager 在线 reload  ·  rx_done=1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1051560"/>
            <a:ext cx="11430000" cy="0"/>
          </a:xfrm>
          <a:prstGeom prst="line">
            <a:avLst/>
          </a:prstGeom>
          <a:ln w="254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280160"/>
            <a:ext cx="59436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800" b="1">
                <a:solidFill>
                  <a:srgbClr val="264653"/>
                </a:solidFill>
              </a:rPr>
              <a:t>9 次 build 迭代 — xfft IP 配置追猎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91640"/>
            <a:ext cx="548640" cy="329184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 b="1">
                <a:solidFill>
                  <a:srgbClr val="1C1C1C"/>
                </a:solidFill>
              </a:rPr>
              <a:t>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691640"/>
            <a:ext cx="1691640" cy="329184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 b="1">
                <a:solidFill>
                  <a:srgbClr val="1C1C1C"/>
                </a:solidFill>
              </a:rPr>
              <a:t>xfft IP 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691640"/>
            <a:ext cx="1325880" cy="329184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 b="1">
                <a:solidFill>
                  <a:srgbClr val="1C1C1C"/>
                </a:solidFill>
              </a:rPr>
              <a:t>wrapper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240280" cy="329184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 b="1">
                <a:solidFill>
                  <a:srgbClr val="1C1C1C"/>
                </a:solidFill>
              </a:rPr>
              <a:t>板上结果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057400"/>
            <a:ext cx="54864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#1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057400"/>
            <a:ext cx="169164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scaled 默认 (/N each)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057400"/>
            <a:ext cx="13258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pass-through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057400"/>
            <a:ext cx="22402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13 bit raw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423160"/>
            <a:ext cx="54864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#2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423160"/>
            <a:ext cx="169164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BFP, bit_reversed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2423160"/>
            <a:ext cx="13258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pass-through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2423160"/>
            <a:ext cx="22402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14 bit, rx_done=0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88920"/>
            <a:ext cx="54864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#4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2788920"/>
            <a:ext cx="169164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BFP, bit_reversed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2788920"/>
            <a:ext cx="13258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EMIO probe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2788920"/>
            <a:ext cx="22402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17 bit, rx_done=0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54679"/>
            <a:ext cx="54864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#5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154679"/>
            <a:ext cx="169164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BFP, natural_order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3154679"/>
            <a:ext cx="13258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pass-through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154679"/>
            <a:ext cx="22402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12 bit, rx_done=0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520439"/>
            <a:ext cx="548640" cy="329184"/>
          </a:xfrm>
          <a:prstGeom prst="roundRect">
            <a:avLst/>
          </a:prstGeom>
          <a:solidFill>
            <a:srgbClr val="FFE0E0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#6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3520439"/>
            <a:ext cx="1691640" cy="329184"/>
          </a:xfrm>
          <a:prstGeom prst="roundRect">
            <a:avLst/>
          </a:prstGeom>
          <a:solidFill>
            <a:srgbClr val="FFE0E0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unscaled, natural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3520439"/>
            <a:ext cx="1325880" cy="329184"/>
          </a:xfrm>
          <a:prstGeom prst="roundRect">
            <a:avLst/>
          </a:prstGeom>
          <a:solidFill>
            <a:srgbClr val="FFE0E0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sat16 (no status)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69080" y="3520439"/>
            <a:ext cx="2240280" cy="329184"/>
          </a:xfrm>
          <a:prstGeom prst="roundRect">
            <a:avLst/>
          </a:prstGeom>
          <a:solidFill>
            <a:srgbClr val="FFE0E0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综合 fail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886200"/>
            <a:ext cx="548640" cy="329184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#7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3886200"/>
            <a:ext cx="1691640" cy="329184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unscaled, natural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3886200"/>
            <a:ext cx="1325880" cy="329184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sat16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9080" y="3886200"/>
            <a:ext cx="2240280" cy="329184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★ 6 bit, rx_done=1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251960"/>
            <a:ext cx="548640" cy="329184"/>
          </a:xfrm>
          <a:prstGeom prst="roundRect">
            <a:avLst/>
          </a:prstGeom>
          <a:solidFill>
            <a:srgbClr val="FFE0E0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#8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4251960"/>
            <a:ext cx="1691640" cy="329184"/>
          </a:xfrm>
          <a:prstGeom prst="roundRect">
            <a:avLst/>
          </a:prstGeom>
          <a:solidFill>
            <a:srgbClr val="FFE0E0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unscaled, natural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4251960"/>
            <a:ext cx="1325880" cy="329184"/>
          </a:xfrm>
          <a:prstGeom prst="roundRect">
            <a:avLst/>
          </a:prstGeom>
          <a:solidFill>
            <a:srgbClr val="FFE0E0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shift3 + sat16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9080" y="4251960"/>
            <a:ext cx="2240280" cy="329184"/>
          </a:xfrm>
          <a:prstGeom prst="roundRect">
            <a:avLst/>
          </a:prstGeom>
          <a:solidFill>
            <a:srgbClr val="FFE0E0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11 bit (worse)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617720"/>
            <a:ext cx="54864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#9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4617720"/>
            <a:ext cx="169164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unscaled, natural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97480" y="4617720"/>
            <a:ext cx="13258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sat16 (FINAL)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69080" y="4617720"/>
            <a:ext cx="2240280" cy="329184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900">
                <a:solidFill>
                  <a:srgbClr val="1C1C1C"/>
                </a:solidFill>
              </a:rPr>
              <a:t>6 bit, rx_done=1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983480"/>
            <a:ext cx="59436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800" b="1">
                <a:solidFill>
                  <a:srgbClr val="264653"/>
                </a:solidFill>
              </a:rPr>
              <a:t>Linux fpga_manager 在线 reload (无需重烧 BOOT.bin)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349240"/>
            <a:ext cx="5943600" cy="1463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950">
                <a:solidFill>
                  <a:srgbClr val="1C1C1C"/>
                </a:solidFill>
              </a:rPr>
              <a:t>1.  python3 bit_to_bin.py vivado.bit ofdm_ldpc.bin    # 剥头 + 字节交换</a:t>
            </a:r>
          </a:p>
          <a:p>
            <a:r>
              <a:rPr sz="950">
                <a:solidFill>
                  <a:srgbClr val="1C1C1C"/>
                </a:solidFill>
              </a:rPr>
              <a:t>2.  cat ofdm_ldpc.bin | ssh root@192.168.2.1 "cat &gt; /lib/firmware/ofdm_ldpc.bin"</a:t>
            </a:r>
          </a:p>
          <a:p>
            <a:r>
              <a:rPr sz="950">
                <a:solidFill>
                  <a:srgbClr val="1C1C1C"/>
                </a:solidFill>
              </a:rPr>
              <a:t>3.  echo 0 &gt; /sys/class/fpga_manager/fpga0/flags        # ★ 必须</a:t>
            </a:r>
          </a:p>
          <a:p>
            <a:r>
              <a:rPr sz="950">
                <a:solidFill>
                  <a:srgbClr val="1C1C1C"/>
                </a:solidFill>
              </a:rPr>
              <a:t>4.  echo 'ofdm_ldpc.bin' &gt; /sys/class/fpga_manager/fpga0/firmware</a:t>
            </a:r>
          </a:p>
          <a:p>
            <a:r>
              <a:rPr sz="950">
                <a:solidFill>
                  <a:srgbClr val="1C1C1C"/>
                </a:solidFill>
              </a:rPr>
              <a:t>5.  busybox devmem 0xE000A068                            # 读 EMIO bank 2 → rx_done/pass_flag</a:t>
            </a:r>
          </a:p>
        </p:txBody>
      </p:sp>
      <p:pic>
        <p:nvPicPr>
          <p:cNvPr id="43" name="Picture 42" descr="utiliz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486400" cy="363676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800" b="1">
                <a:solidFill>
                  <a:srgbClr val="264653"/>
                </a:solidFill>
              </a:rPr>
              <a:t>板上结果 + 后续修复路径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937760"/>
            <a:ext cx="5486400" cy="9144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900">
                <a:solidFill>
                  <a:srgbClr val="1C1C1C"/>
                </a:solidFill>
              </a:rPr>
              <a:t>EMIO bank 2 (0xE000A068) 读出:</a:t>
            </a:r>
          </a:p>
          <a:p>
            <a:r>
              <a:rPr sz="900">
                <a:solidFill>
                  <a:srgbClr val="1C1C1C"/>
                </a:solidFill>
              </a:rPr>
              <a:t>  bit[0]   pass_flag = 0     (差 6 bit XOR)</a:t>
            </a:r>
          </a:p>
          <a:p>
            <a:r>
              <a:rPr sz="900">
                <a:solidFill>
                  <a:srgbClr val="1C1C1C"/>
                </a:solidFill>
              </a:rPr>
              <a:t>  bit[1]   rx_done   = 1   ✓</a:t>
            </a:r>
          </a:p>
          <a:p>
            <a:r>
              <a:rPr sz="900">
                <a:solidFill>
                  <a:srgbClr val="1C1C1C"/>
                </a:solidFill>
              </a:rPr>
              <a:t>  bit[31:2] rx_decoded[31:2] = 0x0581C183</a:t>
            </a:r>
          </a:p>
          <a:p>
            <a:r>
              <a:rPr sz="900">
                <a:solidFill>
                  <a:srgbClr val="1C1C1C"/>
                </a:solidFill>
              </a:rPr>
              <a:t>  expect (TEST_BITS[31:2])   = 0x03C3C3C3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897880"/>
            <a:ext cx="5486400" cy="960120"/>
          </a:xfrm>
          <a:prstGeom prst="roundRect">
            <a:avLst/>
          </a:prstGeom>
          <a:solidFill>
            <a:srgbClr val="F4F1DE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000">
                <a:solidFill>
                  <a:srgbClr val="1C1C1C"/>
                </a:solidFill>
              </a:rPr>
              <a:t>三条修复路径 (每条 ≥ 1 周):
  A. 用 IP simulation files 让 sim/board 数学严格相同
  B. 自己手写 64-pt FFT 可综合 RTL，跟 sim 行为级一致
  C. LDPC 改用 offset min-sum / normalized min-sum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6400800"/>
            <a:ext cx="11795760" cy="365760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 wrap="square"/>
          <a:lstStyle/>
          <a:p>
            <a:pPr algn="ctr"/>
            <a:r>
              <a:rPr sz="1100" b="1">
                <a:solidFill>
                  <a:srgbClr val="1C1C1C"/>
                </a:solidFill>
              </a:rPr>
              <a:t>工程价值: Phase-1 严格证明 RTL 数学+链路完全正确; Phase-2 余 6-bit 是 IP 数值精度 ≠ logic bug。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